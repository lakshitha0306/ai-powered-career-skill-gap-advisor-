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2" d="100"/>
          <a:sy n="62" d="100"/>
        </p:scale>
        <p:origin x="804"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982279522"/>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LAKSHITHA R</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rlakshitha312@gmail.com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2000" u="none" strike="noStrike" cap="none" dirty="0"/>
                        <a:t>8072564298</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2" y="1695423"/>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US" sz="2400" dirty="0"/>
              <a:t>Education</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201559" cy="954067"/>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US" sz="2800" dirty="0"/>
              <a:t>AI-Powered Career &amp; Skill-Gap Advisor for                    Tier-2/3 College Students</a:t>
            </a:r>
            <a:endParaRPr sz="28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F2EA3E00-19F5-EDB9-F51E-946C2BE2E40B}"/>
              </a:ext>
            </a:extLst>
          </p:cNvPr>
          <p:cNvPicPr>
            <a:picLocks noChangeAspect="1"/>
          </p:cNvPicPr>
          <p:nvPr/>
        </p:nvPicPr>
        <p:blipFill>
          <a:blip r:embed="rId3"/>
          <a:stretch>
            <a:fillRect/>
          </a:stretch>
        </p:blipFill>
        <p:spPr>
          <a:xfrm>
            <a:off x="4056112" y="3619504"/>
            <a:ext cx="884741" cy="11479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165753"/>
            <a:ext cx="10607040" cy="6093936"/>
          </a:xfrm>
          <a:prstGeom prst="rect">
            <a:avLst/>
          </a:prstGeom>
          <a:noFill/>
          <a:ln>
            <a:noFill/>
          </a:ln>
        </p:spPr>
        <p:txBody>
          <a:bodyPr spcFirstLastPara="1" wrap="square" lIns="91425" tIns="45700" rIns="91425" bIns="45700" anchor="t" anchorCtr="0">
            <a:spAutoFit/>
          </a:bodyPr>
          <a:lstStyle/>
          <a:p>
            <a:r>
              <a:rPr lang="en-US" sz="1800" b="1" dirty="0"/>
              <a:t>The Challenge</a:t>
            </a:r>
            <a:br>
              <a:rPr lang="en-US" sz="1800" dirty="0"/>
            </a:br>
            <a:r>
              <a:rPr lang="en-US" sz="1800" dirty="0"/>
              <a:t>Students at tier-2/3 colleges often lack access to personalized career counseling. Placement cells are overloaded, industry skill requirements change fast, and students rely on scattered, generic advice from forums or seniors — leading to mismatched career choices and skill gaps at hiring time.</a:t>
            </a:r>
          </a:p>
          <a:p>
            <a:r>
              <a:rPr lang="en-US" sz="1800" b="1" dirty="0"/>
              <a:t>The Objective</a:t>
            </a:r>
            <a:br>
              <a:rPr lang="en-US" sz="1800" dirty="0"/>
            </a:br>
            <a:r>
              <a:rPr lang="en-US" sz="1800" dirty="0"/>
              <a:t>Build an AI-powered Career &amp; Skill-Gap Advisor that gives students personalized, data-backed career guidance. It should:</a:t>
            </a:r>
          </a:p>
          <a:p>
            <a:r>
              <a:rPr lang="en-US" sz="1800" b="1" dirty="0"/>
              <a:t>Resume/Skill Analysis</a:t>
            </a:r>
            <a:r>
              <a:rPr lang="en-US" sz="1800" dirty="0"/>
              <a:t> – Parse a student's resume/skills and compare against real job-role requirements</a:t>
            </a:r>
          </a:p>
          <a:p>
            <a:r>
              <a:rPr lang="en-US" sz="1800" b="1" dirty="0"/>
              <a:t>Skill-Gap Retrieval (RAG)</a:t>
            </a:r>
            <a:r>
              <a:rPr lang="en-US" sz="1800" dirty="0"/>
              <a:t> – Fetch current industry skill benchmarks and certification requirements from trusted sources</a:t>
            </a:r>
          </a:p>
          <a:p>
            <a:r>
              <a:rPr lang="en-US" sz="1800" b="1" dirty="0"/>
              <a:t>Learning Path Recommendation</a:t>
            </a:r>
            <a:r>
              <a:rPr lang="en-US" sz="1800" dirty="0"/>
              <a:t> – Suggest specific courses/certifications to close identified gaps</a:t>
            </a:r>
          </a:p>
          <a:p>
            <a:r>
              <a:rPr lang="en-US" sz="1800" b="1" dirty="0"/>
              <a:t>Mock Interview &amp; Feedback</a:t>
            </a:r>
            <a:r>
              <a:rPr lang="en-US" sz="1800" dirty="0"/>
              <a:t> – Simulate role-specific interviews and give structured feedback</a:t>
            </a:r>
          </a:p>
          <a:p>
            <a:r>
              <a:rPr lang="en-US" sz="1800" b="1" dirty="0"/>
              <a:t>Multi-Agent System:</a:t>
            </a:r>
            <a:endParaRPr lang="en-US" sz="1800" dirty="0"/>
          </a:p>
          <a:p>
            <a:r>
              <a:rPr lang="en-US" sz="1800" dirty="0"/>
              <a:t>Skill Assessment Agent (parses resume, identifies gaps)</a:t>
            </a:r>
          </a:p>
          <a:p>
            <a:r>
              <a:rPr lang="en-US" sz="1800" dirty="0"/>
              <a:t>Career Path Agent (recommends roles based on interests + aptitude)</a:t>
            </a:r>
          </a:p>
          <a:p>
            <a:r>
              <a:rPr lang="en-US" sz="1800" dirty="0"/>
              <a:t>Learning Resource Agent (suggests courses/certifications via RAG)</a:t>
            </a:r>
          </a:p>
          <a:p>
            <a:r>
              <a:rPr lang="en-US" sz="1800" dirty="0"/>
              <a:t>Interview Coach Agent (mock interviews + feedback)</a:t>
            </a:r>
          </a:p>
          <a:p>
            <a:r>
              <a:rPr lang="en-US" sz="1800" b="1" dirty="0"/>
              <a:t>Dashboard</a:t>
            </a:r>
            <a:r>
              <a:rPr lang="en-US" sz="1800" dirty="0"/>
              <a:t> – Visual skill-gap radar, progress tracker, readiness score</a:t>
            </a:r>
          </a:p>
          <a:p>
            <a:pPr marL="0" marR="0" lvl="0" indent="0" algn="l" rtl="0">
              <a:lnSpc>
                <a:spcPct val="100000"/>
              </a:lnSpc>
              <a:spcBef>
                <a:spcPts val="0"/>
              </a:spcBef>
              <a:spcAft>
                <a:spcPts val="0"/>
              </a:spcAft>
              <a:buNone/>
            </a:pPr>
            <a:endParaRPr sz="20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328762" y="770562"/>
            <a:ext cx="11534475" cy="6340157"/>
          </a:xfrm>
          <a:prstGeom prst="rect">
            <a:avLst/>
          </a:prstGeom>
          <a:noFill/>
          <a:ln>
            <a:noFill/>
          </a:ln>
        </p:spPr>
        <p:txBody>
          <a:bodyPr spcFirstLastPara="1" wrap="square" lIns="91425" tIns="45700" rIns="91425" bIns="45700" anchor="t" anchorCtr="0">
            <a:spAutoFit/>
          </a:bodyPr>
          <a:lstStyle/>
          <a:p>
            <a:r>
              <a:rPr lang="en-US" sz="1800" dirty="0"/>
              <a:t>The proposed solution is a multi-agent AI Career Advisor built using </a:t>
            </a:r>
            <a:r>
              <a:rPr lang="en-US" sz="1800" dirty="0" err="1"/>
              <a:t>LangFlow</a:t>
            </a:r>
            <a:r>
              <a:rPr lang="en-US" sz="1800" dirty="0"/>
              <a:t>, IBM watsonx.ai, and Granite Models, giving students personalized, real-time career and skill guidance. It tackles the gap between overloaded campus placement cells and the need for individualized counseling through a modular, intelligent architecture.</a:t>
            </a:r>
          </a:p>
          <a:p>
            <a:endParaRPr lang="en-US" sz="1800" dirty="0"/>
          </a:p>
          <a:p>
            <a:r>
              <a:rPr lang="en-US" sz="1800" dirty="0"/>
              <a:t>At its core, a Retrieval-Augmented Generation (RAG) pipeline pulls current job-role requirements and skill taxonomies from sources like LinkedIn job postings, NASSCOM skill frameworks, and course catalogs (Coursera, NPTEL). This data is embedded into a vector database so Granite models can retrieve and reason over up-to-date, role-specific requirements instead of static/generic advice.</a:t>
            </a:r>
          </a:p>
          <a:p>
            <a:endParaRPr lang="en-US" sz="1800" dirty="0"/>
          </a:p>
          <a:p>
            <a:r>
              <a:rPr lang="en-US" sz="1800" dirty="0"/>
              <a:t>Four agents work together: the </a:t>
            </a:r>
            <a:r>
              <a:rPr lang="en-US" sz="1800" b="1" dirty="0"/>
              <a:t>Skill Assessment Agent</a:t>
            </a:r>
            <a:r>
              <a:rPr lang="en-US" sz="1800" dirty="0"/>
              <a:t> parses a student's resume and identifies gaps against target roles; the </a:t>
            </a:r>
            <a:r>
              <a:rPr lang="en-US" sz="1800" b="1" dirty="0"/>
              <a:t>Career Path Agent</a:t>
            </a:r>
            <a:r>
              <a:rPr lang="en-US" sz="1800" dirty="0"/>
              <a:t> recommends suitable roles based on interests, academic background, and aptitude; the </a:t>
            </a:r>
            <a:r>
              <a:rPr lang="en-US" sz="1800" b="1" dirty="0"/>
              <a:t>Learning Resource Agent</a:t>
            </a:r>
            <a:r>
              <a:rPr lang="en-US" sz="1800" dirty="0"/>
              <a:t> retrieves and ranks relevant courses/certifications to close those gaps; and the </a:t>
            </a:r>
            <a:r>
              <a:rPr lang="en-US" sz="1800" b="1" dirty="0"/>
              <a:t>Interview Coach Agent</a:t>
            </a:r>
            <a:r>
              <a:rPr lang="en-US" sz="1800" dirty="0"/>
              <a:t> runs role-specific mock interviews and gives structured, actionable feedback.</a:t>
            </a:r>
          </a:p>
          <a:p>
            <a:endParaRPr lang="en-US" sz="1800" dirty="0"/>
          </a:p>
          <a:p>
            <a:r>
              <a:rPr lang="en-US" sz="1800" dirty="0"/>
              <a:t>A </a:t>
            </a:r>
            <a:r>
              <a:rPr lang="en-US" sz="1800" dirty="0" err="1"/>
              <a:t>Streamlit</a:t>
            </a:r>
            <a:r>
              <a:rPr lang="en-US" sz="1800" dirty="0"/>
              <a:t>/React dashboard visualizes the student's skill-gap radar chart, tracks progress over time, and shows a "job-readiness score." </a:t>
            </a:r>
            <a:r>
              <a:rPr lang="en-US" sz="1800" dirty="0" err="1"/>
              <a:t>LangFlow</a:t>
            </a:r>
            <a:r>
              <a:rPr lang="en-US" sz="1800" dirty="0"/>
              <a:t> orchestrates the agent workflow; watsonx.ai handles scalable deployment, embeddings, and governance; Granite models power reasoning, summarization, and personalized feedback generation.</a:t>
            </a:r>
          </a:p>
          <a:p>
            <a:endParaRPr lang="en-US" sz="1800" dirty="0"/>
          </a:p>
          <a:p>
            <a:r>
              <a:rPr lang="en-US" sz="1800" dirty="0"/>
              <a:t>This delivers an end-to-end, always-available career mentor — reducing reliance on overstretched placement cells and helping students make informed, evidence-based career decisions.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455467" y="180105"/>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4678163"/>
          </a:xfrm>
          <a:prstGeom prst="rect">
            <a:avLst/>
          </a:prstGeom>
          <a:noFill/>
          <a:ln>
            <a:noFill/>
          </a:ln>
        </p:spPr>
        <p:txBody>
          <a:bodyPr spcFirstLastPara="1" wrap="square" lIns="91425" tIns="45700" rIns="91425" bIns="45700" anchor="t" anchorCtr="0">
            <a:spAutoFit/>
          </a:bodyPr>
          <a:lstStyle/>
          <a:p>
            <a:pPr marL="285750" lvl="0" indent="-285750">
              <a:buSzPts val="1800"/>
              <a:buFont typeface="Arial" panose="020B0604020202020204" pitchFamily="34" charset="0"/>
              <a:buChar char="•"/>
            </a:pPr>
            <a:r>
              <a:rPr lang="en-US" sz="1800" b="1" dirty="0" err="1"/>
              <a:t>LangFlow</a:t>
            </a:r>
            <a:r>
              <a:rPr lang="en-US" sz="1800" dirty="0"/>
              <a:t> – Visual design/orchestration of the multi-agent workflow </a:t>
            </a:r>
          </a:p>
          <a:p>
            <a:pPr marL="285750" lvl="0" indent="-285750">
              <a:buSzPts val="1800"/>
              <a:buFont typeface="Arial" panose="020B0604020202020204" pitchFamily="34" charset="0"/>
              <a:buChar char="•"/>
            </a:pPr>
            <a:endParaRPr lang="en-US" sz="1800" b="1" dirty="0"/>
          </a:p>
          <a:p>
            <a:pPr marL="285750" lvl="0" indent="-285750">
              <a:buSzPts val="1800"/>
              <a:buFont typeface="Arial" panose="020B0604020202020204" pitchFamily="34" charset="0"/>
              <a:buChar char="•"/>
            </a:pPr>
            <a:r>
              <a:rPr lang="en-US" sz="1800" b="1" dirty="0"/>
              <a:t>IBM Granite model</a:t>
            </a:r>
            <a:r>
              <a:rPr lang="en-US" sz="1800" dirty="0"/>
              <a:t> (e.g. granite-4.0-8b-instruct) – Natural language reasoning, resume parsing, personalized feedback</a:t>
            </a:r>
          </a:p>
          <a:p>
            <a:pPr marL="285750" lvl="0" indent="-285750">
              <a:buSzPts val="1800"/>
              <a:buFont typeface="Arial" panose="020B0604020202020204" pitchFamily="34" charset="0"/>
              <a:buChar char="•"/>
            </a:pPr>
            <a:endParaRPr lang="en-US" sz="1800" dirty="0"/>
          </a:p>
          <a:p>
            <a:pPr marL="285750" lvl="0" indent="-285750">
              <a:buSzPts val="1800"/>
              <a:buFont typeface="Arial" panose="020B0604020202020204" pitchFamily="34" charset="0"/>
              <a:buChar char="•"/>
            </a:pPr>
            <a:r>
              <a:rPr lang="en-US" sz="1800" dirty="0"/>
              <a:t> </a:t>
            </a:r>
            <a:r>
              <a:rPr lang="en-US" sz="1800" b="1" dirty="0"/>
              <a:t>IBM Cloud</a:t>
            </a:r>
            <a:r>
              <a:rPr lang="en-US" sz="1800" dirty="0"/>
              <a:t> – Infrastructure to build, deploy, and scale the advisor reliably and securely </a:t>
            </a:r>
          </a:p>
          <a:p>
            <a:pPr marL="285750" lvl="0" indent="-285750">
              <a:buSzPts val="1800"/>
              <a:buFont typeface="Arial" panose="020B0604020202020204" pitchFamily="34" charset="0"/>
              <a:buChar char="•"/>
            </a:pPr>
            <a:endParaRPr lang="en-US" sz="1800" b="1" dirty="0"/>
          </a:p>
          <a:p>
            <a:pPr marL="285750" lvl="0" indent="-285750">
              <a:buSzPts val="1800"/>
              <a:buFont typeface="Arial" panose="020B0604020202020204" pitchFamily="34" charset="0"/>
              <a:buChar char="•"/>
            </a:pPr>
            <a:r>
              <a:rPr lang="en-US" sz="1800" b="1" dirty="0"/>
              <a:t>RAG</a:t>
            </a:r>
            <a:r>
              <a:rPr lang="en-US" sz="1800" dirty="0"/>
              <a:t> – Retrieves real, current job/skill data before generating advice, keeping recommendations trustworthy</a:t>
            </a:r>
          </a:p>
          <a:p>
            <a:pPr marL="285750" lvl="0" indent="-285750">
              <a:buSzPts val="1800"/>
              <a:buFont typeface="Arial" panose="020B0604020202020204" pitchFamily="34" charset="0"/>
              <a:buChar char="•"/>
            </a:pPr>
            <a:endParaRPr lang="en-US" sz="1800" dirty="0"/>
          </a:p>
          <a:p>
            <a:pPr marL="285750" lvl="0" indent="-285750">
              <a:buSzPts val="1800"/>
              <a:buFont typeface="Arial" panose="020B0604020202020204" pitchFamily="34" charset="0"/>
              <a:buChar char="•"/>
            </a:pPr>
            <a:r>
              <a:rPr lang="en-US" sz="1800" dirty="0"/>
              <a:t> </a:t>
            </a:r>
            <a:r>
              <a:rPr lang="en-US" sz="1800" b="1" dirty="0"/>
              <a:t>IBM Watsonx.ai</a:t>
            </a:r>
            <a:r>
              <a:rPr lang="en-US" sz="1800" dirty="0"/>
              <a:t> – Model deployment, embeddings, AI governance </a:t>
            </a:r>
          </a:p>
          <a:p>
            <a:pPr marL="285750" lvl="0" indent="-285750">
              <a:buSzPts val="1800"/>
              <a:buFont typeface="Arial" panose="020B0604020202020204" pitchFamily="34" charset="0"/>
              <a:buChar char="•"/>
            </a:pPr>
            <a:endParaRPr lang="en-US" sz="1800" b="1" dirty="0"/>
          </a:p>
          <a:p>
            <a:pPr marL="285750" lvl="0" indent="-285750">
              <a:buSzPts val="1800"/>
              <a:buFont typeface="Arial" panose="020B0604020202020204" pitchFamily="34" charset="0"/>
              <a:buChar char="•"/>
            </a:pPr>
            <a:r>
              <a:rPr lang="en-US" sz="1800" b="1" dirty="0"/>
              <a:t>Vector Database (FAISS/Chroma)</a:t>
            </a:r>
            <a:r>
              <a:rPr lang="en-US" sz="1800" dirty="0"/>
              <a:t> – Stores embedded job-role and course-catalog data for retrieval</a:t>
            </a:r>
            <a:endParaRPr sz="1800" b="0" i="0" u="none" strike="noStrike" cap="none" dirty="0">
              <a:solidFill>
                <a:srgbClr val="000000"/>
              </a:solidFill>
              <a:latin typeface="Arial"/>
              <a:ea typeface="Arial"/>
              <a:cs typeface="Arial"/>
              <a:sym typeface="Arial"/>
            </a:endParaRPr>
          </a:p>
          <a:p>
            <a:pPr marL="400050" marR="0" lvl="0" indent="-285750" algn="l" rtl="0">
              <a:lnSpc>
                <a:spcPct val="100000"/>
              </a:lnSpc>
              <a:spcBef>
                <a:spcPts val="0"/>
              </a:spcBef>
              <a:spcAft>
                <a:spcPts val="0"/>
              </a:spcAft>
              <a:buClr>
                <a:srgbClr val="000000"/>
              </a:buClr>
              <a:buSzPts val="1800"/>
              <a:buFont typeface="Arial" panose="020B0604020202020204" pitchFamily="34" charset="0"/>
              <a:buChar char="•"/>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794444" y="528723"/>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459746"/>
            <a:ext cx="8823960" cy="5539938"/>
          </a:xfrm>
          <a:prstGeom prst="rect">
            <a:avLst/>
          </a:prstGeom>
          <a:noFill/>
          <a:ln>
            <a:noFill/>
          </a:ln>
        </p:spPr>
        <p:txBody>
          <a:bodyPr spcFirstLastPara="1" wrap="square" lIns="91425" tIns="45700" rIns="91425" bIns="45700" anchor="t" anchorCtr="0">
            <a:spAutoFit/>
          </a:bodyPr>
          <a:lstStyle/>
          <a:p>
            <a:pPr marL="374650" lvl="0" indent="-285750">
              <a:buSzPts val="1400"/>
              <a:buFont typeface="Arial" panose="020B0604020202020204" pitchFamily="34" charset="0"/>
              <a:buChar char="•"/>
            </a:pPr>
            <a:r>
              <a:rPr lang="en-US" sz="1800" b="1" dirty="0"/>
              <a:t>Chat Input</a:t>
            </a:r>
            <a:r>
              <a:rPr lang="en-US" sz="1800" dirty="0"/>
              <a:t> – Where students enter resume text, interests, or interview answers</a:t>
            </a:r>
          </a:p>
          <a:p>
            <a:pPr marL="342900" lvl="0" indent="-254000">
              <a:buSzPts val="1400"/>
            </a:pPr>
            <a:endParaRPr lang="en-US" sz="1800" dirty="0"/>
          </a:p>
          <a:p>
            <a:pPr marL="374650" lvl="0" indent="-285750">
              <a:buSzPts val="1400"/>
              <a:buFont typeface="Arial" panose="020B0604020202020204" pitchFamily="34" charset="0"/>
              <a:buChar char="•"/>
            </a:pPr>
            <a:r>
              <a:rPr lang="en-US" sz="1800" dirty="0"/>
              <a:t> </a:t>
            </a:r>
            <a:r>
              <a:rPr lang="en-US" sz="1800" b="1" dirty="0"/>
              <a:t>IBM </a:t>
            </a:r>
            <a:r>
              <a:rPr lang="en-US" sz="1800" b="1" dirty="0" err="1"/>
              <a:t>watsonx</a:t>
            </a:r>
            <a:r>
              <a:rPr lang="en-US" sz="1800" b="1" dirty="0"/>
              <a:t> AI Agent</a:t>
            </a:r>
            <a:r>
              <a:rPr lang="en-US" sz="1800" dirty="0"/>
              <a:t> – Processes input via Granite models to generate skill-gap analysis and career suggestions </a:t>
            </a:r>
          </a:p>
          <a:p>
            <a:pPr marL="342900" lvl="0" indent="-254000">
              <a:buSzPts val="1400"/>
            </a:pPr>
            <a:endParaRPr lang="en-US" sz="1800" b="1" dirty="0"/>
          </a:p>
          <a:p>
            <a:pPr marL="374650" lvl="0" indent="-285750">
              <a:buSzPts val="1400"/>
              <a:buFont typeface="Arial" panose="020B0604020202020204" pitchFamily="34" charset="0"/>
              <a:buChar char="•"/>
            </a:pPr>
            <a:r>
              <a:rPr lang="en-US" sz="1800" b="1" dirty="0"/>
              <a:t>Granite model</a:t>
            </a:r>
            <a:r>
              <a:rPr lang="en-US" sz="1800" dirty="0"/>
              <a:t> – Granite-4.0-8B-Instruct → fast reasoning for real-time feedback</a:t>
            </a:r>
          </a:p>
          <a:p>
            <a:pPr marL="342900" lvl="0" indent="-254000">
              <a:buSzPts val="1400"/>
            </a:pPr>
            <a:endParaRPr lang="en-US" sz="1800" dirty="0"/>
          </a:p>
          <a:p>
            <a:pPr marL="374650" lvl="0" indent="-285750">
              <a:buSzPts val="1400"/>
              <a:buFont typeface="Arial" panose="020B0604020202020204" pitchFamily="34" charset="0"/>
              <a:buChar char="•"/>
            </a:pPr>
            <a:r>
              <a:rPr lang="en-US" sz="1800" dirty="0"/>
              <a:t> </a:t>
            </a:r>
            <a:r>
              <a:rPr lang="en-US" sz="1800" b="1" dirty="0"/>
              <a:t>Chat Output</a:t>
            </a:r>
            <a:r>
              <a:rPr lang="en-US" sz="1800" dirty="0"/>
              <a:t> – Displays skill-gap reports, recommended courses, interview feedback</a:t>
            </a:r>
          </a:p>
          <a:p>
            <a:pPr marL="342900" lvl="0" indent="-254000">
              <a:buSzPts val="1400"/>
            </a:pPr>
            <a:endParaRPr lang="en-US" sz="1800" dirty="0"/>
          </a:p>
          <a:p>
            <a:pPr marL="374650" lvl="0" indent="-285750">
              <a:buSzPts val="1400"/>
              <a:buFont typeface="Arial" panose="020B0604020202020204" pitchFamily="34" charset="0"/>
              <a:buChar char="•"/>
            </a:pPr>
            <a:r>
              <a:rPr lang="en-US" sz="1800" dirty="0"/>
              <a:t> </a:t>
            </a:r>
            <a:r>
              <a:rPr lang="en-US" sz="1800" b="1" dirty="0"/>
              <a:t>File Component</a:t>
            </a:r>
            <a:r>
              <a:rPr lang="en-US" sz="1800" dirty="0"/>
              <a:t> – Stores resumes, skill taxonomies, course catalog data for retrieval</a:t>
            </a:r>
          </a:p>
          <a:p>
            <a:pPr marL="342900" lvl="0" indent="-254000">
              <a:buSzPts val="1400"/>
            </a:pPr>
            <a:endParaRPr lang="en-US" sz="1800" dirty="0"/>
          </a:p>
          <a:p>
            <a:pPr marL="374650" lvl="0" indent="-285750">
              <a:buSzPts val="1400"/>
              <a:buFont typeface="Arial" panose="020B0604020202020204" pitchFamily="34" charset="0"/>
              <a:buChar char="•"/>
            </a:pPr>
            <a:r>
              <a:rPr lang="en-US" sz="1800" dirty="0"/>
              <a:t> </a:t>
            </a:r>
            <a:r>
              <a:rPr lang="en-US" sz="1800" b="1" dirty="0"/>
              <a:t>(Optional)</a:t>
            </a:r>
            <a:r>
              <a:rPr lang="en-US" sz="1800" dirty="0"/>
              <a:t> Vector Store component for FAISS/Chroma RAG retrieval</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6D0B66B7-C460-345F-D264-0298B8F5CD90}"/>
              </a:ext>
            </a:extLst>
          </p:cNvPr>
          <p:cNvPicPr>
            <a:picLocks noChangeAspect="1"/>
          </p:cNvPicPr>
          <p:nvPr/>
        </p:nvPicPr>
        <p:blipFill>
          <a:blip r:embed="rId3"/>
          <a:stretch>
            <a:fillRect/>
          </a:stretch>
        </p:blipFill>
        <p:spPr>
          <a:xfrm>
            <a:off x="852755" y="1017556"/>
            <a:ext cx="9996755" cy="5517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CEBA5AFF-8DAC-947D-5D90-8A0B274618E9}"/>
              </a:ext>
            </a:extLst>
          </p:cNvPr>
          <p:cNvPicPr>
            <a:picLocks noChangeAspect="1"/>
          </p:cNvPicPr>
          <p:nvPr/>
        </p:nvPicPr>
        <p:blipFill>
          <a:blip r:embed="rId3"/>
          <a:stretch>
            <a:fillRect/>
          </a:stretch>
        </p:blipFill>
        <p:spPr>
          <a:xfrm>
            <a:off x="1524428" y="935019"/>
            <a:ext cx="9146569" cy="49930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65214" y="447850"/>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52614" y="1474639"/>
            <a:ext cx="7402325" cy="3908722"/>
          </a:xfrm>
          <a:prstGeom prst="rect">
            <a:avLst/>
          </a:prstGeom>
          <a:noFill/>
          <a:ln>
            <a:noFill/>
          </a:ln>
        </p:spPr>
        <p:txBody>
          <a:bodyPr spcFirstLastPara="1" wrap="square" lIns="91425" tIns="45700" rIns="91425" bIns="45700" anchor="t" anchorCtr="0">
            <a:spAutoFit/>
          </a:bodyPr>
          <a:lstStyle/>
          <a:p>
            <a:r>
              <a:rPr lang="en-US" sz="1800" b="1" dirty="0"/>
              <a:t>Role of Agentic AI</a:t>
            </a:r>
          </a:p>
          <a:p>
            <a:r>
              <a:rPr lang="en-US" sz="1800" dirty="0"/>
              <a:t>Agentic AI turns this from a static resume-checker into an autonomous career mentor. Using IBM watsonx.ai and Granite models, it coordinates specialized agents — assessment, career-path, learning-resource, and interview-coach — that each own a specific task while collaborating toward one goal: closing a student's skill gap.</a:t>
            </a:r>
          </a:p>
          <a:p>
            <a:r>
              <a:rPr lang="en-US" sz="1800" dirty="0"/>
              <a:t>The system is context-aware (academic background, interests, target role) and adapts in real time as the student completes courses or retakes mock interviews. Agents share context with each other (e.g., the Interview Coach uses gaps identified by the Skill Assessment Agent), producing more coherent, personalized guidance than a single chatbot could — acting as a proactive digital career counselor available to every student, not just those who can get a placement-cell slot.</a:t>
            </a:r>
          </a:p>
          <a:p>
            <a:pPr marL="0" marR="0" lvl="0" indent="0" algn="l" rtl="0">
              <a:lnSpc>
                <a:spcPct val="100000"/>
              </a:lnSpc>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AB4045A6-DE56-B071-B637-AF1D6AB9ECD2}"/>
              </a:ext>
            </a:extLst>
          </p:cNvPr>
          <p:cNvPicPr>
            <a:picLocks noChangeAspect="1"/>
          </p:cNvPicPr>
          <p:nvPr/>
        </p:nvPicPr>
        <p:blipFill>
          <a:blip r:embed="rId3"/>
          <a:stretch>
            <a:fillRect/>
          </a:stretch>
        </p:blipFill>
        <p:spPr>
          <a:xfrm>
            <a:off x="2095294" y="1171358"/>
            <a:ext cx="8001411" cy="51437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849159" y="73121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720860"/>
            <a:ext cx="11301984" cy="3416279"/>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sz="1800" b="1" dirty="0"/>
              <a:t>Multi-Agent Intelligence</a:t>
            </a:r>
            <a:r>
              <a:rPr lang="en-US" sz="1800" dirty="0"/>
              <a:t> – Specialized agents collaborate instead of one generic chatbot</a:t>
            </a:r>
          </a:p>
          <a:p>
            <a:pPr lvl="0"/>
            <a:endParaRPr lang="en-US" sz="1800" dirty="0"/>
          </a:p>
          <a:p>
            <a:pPr marL="285750" lvl="0" indent="-285750">
              <a:buFont typeface="Arial" panose="020B0604020202020204" pitchFamily="34" charset="0"/>
              <a:buChar char="•"/>
            </a:pPr>
            <a:r>
              <a:rPr lang="en-US" sz="1800" dirty="0"/>
              <a:t> </a:t>
            </a:r>
            <a:r>
              <a:rPr lang="en-US" sz="1800" b="1" dirty="0"/>
              <a:t>RAG-Based Accuracy</a:t>
            </a:r>
            <a:r>
              <a:rPr lang="en-US" sz="1800" dirty="0"/>
              <a:t> – Recommendations grounded in real, current job/skill data, not stale advice </a:t>
            </a:r>
          </a:p>
          <a:p>
            <a:pPr lvl="0"/>
            <a:endParaRPr lang="en-US" sz="1800" b="1" dirty="0"/>
          </a:p>
          <a:p>
            <a:pPr marL="285750" lvl="0" indent="-285750">
              <a:buFont typeface="Arial" panose="020B0604020202020204" pitchFamily="34" charset="0"/>
              <a:buChar char="•"/>
            </a:pPr>
            <a:r>
              <a:rPr lang="en-US" sz="1800" b="1" dirty="0"/>
              <a:t>Hyper-Personalization</a:t>
            </a:r>
            <a:r>
              <a:rPr lang="en-US" sz="1800" dirty="0"/>
              <a:t> – Tailored to academic background, interests, and target roles </a:t>
            </a:r>
          </a:p>
          <a:p>
            <a:pPr lvl="0"/>
            <a:endParaRPr lang="en-US" sz="1800" b="1" dirty="0"/>
          </a:p>
          <a:p>
            <a:pPr marL="285750" lvl="0" indent="-285750">
              <a:buFont typeface="Arial" panose="020B0604020202020204" pitchFamily="34" charset="0"/>
              <a:buChar char="•"/>
            </a:pPr>
            <a:r>
              <a:rPr lang="en-US" sz="1800" b="1" dirty="0"/>
              <a:t>Closed Feedback Loop</a:t>
            </a:r>
            <a:r>
              <a:rPr lang="en-US" sz="1800" dirty="0"/>
              <a:t> – Mock interview performance feeds back into skill-gap recommendations</a:t>
            </a:r>
          </a:p>
          <a:p>
            <a:pPr lvl="0"/>
            <a:endParaRPr lang="en-US" sz="1800" dirty="0"/>
          </a:p>
          <a:p>
            <a:pPr marL="285750" lvl="0" indent="-285750">
              <a:buFont typeface="Arial" panose="020B0604020202020204" pitchFamily="34" charset="0"/>
              <a:buChar char="•"/>
            </a:pPr>
            <a:r>
              <a:rPr lang="en-US" sz="1800" dirty="0"/>
              <a:t> </a:t>
            </a:r>
            <a:r>
              <a:rPr lang="en-US" sz="1800" b="1" dirty="0"/>
              <a:t>Scalable &amp; Enterprise-Ready</a:t>
            </a:r>
            <a:r>
              <a:rPr lang="en-US" sz="1800" dirty="0"/>
              <a:t> – Built on watsonx.ai + Granite for reliability and governance </a:t>
            </a:r>
          </a:p>
          <a:p>
            <a:pPr lvl="0"/>
            <a:endParaRPr lang="en-US" sz="1800" b="1" dirty="0"/>
          </a:p>
          <a:p>
            <a:pPr marL="285750" lvl="0" indent="-285750">
              <a:buFont typeface="Arial" panose="020B0604020202020204" pitchFamily="34" charset="0"/>
              <a:buChar char="•"/>
            </a:pPr>
            <a:r>
              <a:rPr lang="en-US" sz="1800" b="1" dirty="0"/>
              <a:t>Democratizes Access</a:t>
            </a:r>
            <a:r>
              <a:rPr lang="en-US" sz="1800" dirty="0"/>
              <a:t> – Brings placement-cell-quality guidance to tier-2/3 colleges without added counseling staff</a:t>
            </a:r>
            <a:endParaRPr sz="18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54401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054337" y="2256963"/>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hlinkClick r:id="rId3" action="ppaction://hlinksldjump"/>
              </a:rPr>
              <a:t>https://github.com/Lakshitha0306/AI-Powered-Career-Skill-Gap-Advisor</a:t>
            </a: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186600" y="401244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1" dirty="0"/>
              <a:t>Integration with Job Portals/LinkedIn API</a:t>
            </a:r>
            <a:r>
              <a:rPr lang="en-US" sz="2000" dirty="0"/>
              <a:t> – Live job postings to keep skill-gap analysis current and enable direct application tracking </a:t>
            </a:r>
          </a:p>
          <a:p>
            <a:pPr lvl="0">
              <a:lnSpc>
                <a:spcPct val="162162"/>
              </a:lnSpc>
              <a:buClr>
                <a:srgbClr val="2B3541"/>
              </a:buClr>
              <a:buSzPts val="1850"/>
            </a:pPr>
            <a:endParaRPr lang="en-US" sz="2000" b="1" dirty="0"/>
          </a:p>
          <a:p>
            <a:pPr lvl="0">
              <a:lnSpc>
                <a:spcPct val="162162"/>
              </a:lnSpc>
              <a:buClr>
                <a:srgbClr val="2B3541"/>
              </a:buClr>
              <a:buSzPts val="1850"/>
            </a:pPr>
            <a:r>
              <a:rPr lang="en-US" sz="2000" b="1" dirty="0"/>
              <a:t>Regional Language &amp; Voice Support</a:t>
            </a:r>
            <a:r>
              <a:rPr lang="en-US" sz="2000" dirty="0"/>
              <a:t> – Multilingual, voice-enabled interaction to reach students more comfortable in regional languages, widening accessibility across India</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 </a:t>
            </a:r>
            <a:endParaRPr dirty="0"/>
          </a:p>
        </p:txBody>
      </p:sp>
      <p:pic>
        <p:nvPicPr>
          <p:cNvPr id="3" name="Picture 2">
            <a:extLst>
              <a:ext uri="{FF2B5EF4-FFF2-40B4-BE49-F238E27FC236}">
                <a16:creationId xmlns:a16="http://schemas.microsoft.com/office/drawing/2014/main" id="{78B95213-46F3-473A-0AFB-74EA1AE12B8F}"/>
              </a:ext>
            </a:extLst>
          </p:cNvPr>
          <p:cNvPicPr>
            <a:picLocks noChangeAspect="1"/>
          </p:cNvPicPr>
          <p:nvPr/>
        </p:nvPicPr>
        <p:blipFill>
          <a:blip r:embed="rId3"/>
          <a:stretch>
            <a:fillRect/>
          </a:stretch>
        </p:blipFill>
        <p:spPr>
          <a:xfrm>
            <a:off x="3063719" y="1082554"/>
            <a:ext cx="6064562" cy="46928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AD6C10C-9C26-A9F0-18BE-46DDD80E9B79}"/>
              </a:ext>
            </a:extLst>
          </p:cNvPr>
          <p:cNvPicPr>
            <a:picLocks noChangeAspect="1"/>
          </p:cNvPicPr>
          <p:nvPr/>
        </p:nvPicPr>
        <p:blipFill>
          <a:blip r:embed="rId3"/>
          <a:stretch>
            <a:fillRect/>
          </a:stretch>
        </p:blipFill>
        <p:spPr>
          <a:xfrm>
            <a:off x="2968464" y="1466749"/>
            <a:ext cx="6255071" cy="392450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1017</Words>
  <Application>Microsoft Office PowerPoint</Application>
  <PresentationFormat>Widescreen</PresentationFormat>
  <Paragraphs>105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Lakshitha srinivasan</cp:lastModifiedBy>
  <cp:revision>1</cp:revision>
  <dcterms:created xsi:type="dcterms:W3CDTF">2025-07-08T05:06:56Z</dcterms:created>
  <dcterms:modified xsi:type="dcterms:W3CDTF">2026-07-14T18:52:46Z</dcterms:modified>
</cp:coreProperties>
</file>